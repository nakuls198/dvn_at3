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17" r:id="rId2"/>
    <p:sldId id="618" r:id="rId3"/>
    <p:sldId id="317" r:id="rId4"/>
    <p:sldId id="619" r:id="rId5"/>
    <p:sldId id="60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8E2B"/>
    <a:srgbClr val="14454C"/>
    <a:srgbClr val="3A7E7C"/>
    <a:srgbClr val="51AFAD"/>
    <a:srgbClr val="E97132"/>
    <a:srgbClr val="000000"/>
    <a:srgbClr val="8CCAC9"/>
    <a:srgbClr val="306867"/>
    <a:srgbClr val="257366"/>
    <a:srgbClr val="0E87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6E053-35F5-4404-9EE5-88C10163E38D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BB8AA-3031-463D-A37D-09540F40A2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2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9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E291-5B6B-B4F7-590C-C95172AE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1EB72-F159-F23F-A4FD-0287C3F03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D8F17-5657-FFD6-EC42-51D1E2DDF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179C3-E798-277E-A19C-7E2209271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07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D4F4-B42B-F77B-7FA5-4038CC68F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9BEBF-70C0-F37E-EBC1-6C1FA7512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4C4B-A9D6-25F3-4DD9-E340AA1C7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4F8A8-0491-B0D1-CA25-A881794B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5C932-8BF1-13E7-2D51-0345D19F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83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AC75-0F04-2926-E30C-B666CE3E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C62B-63E2-21C9-A6AC-38090DAC9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2C4C0-A204-1C62-4840-0C082F81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D5A6B-C71E-088D-B4BA-327F533A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6BCE-3351-F96B-B600-80D59D7E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3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756D-36C4-68EF-4412-1E5CBD5E4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083AF-AEE5-F02E-2BB0-6F976694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61860-3EF3-99D4-5D69-3F8AA5C0C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C5DB9-2A9A-B827-A529-6C1EF076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77384-1B49-07A8-63AD-13162507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1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DB38-C393-BE63-BED7-B57B307D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5CD9-0F88-5E7E-B8D8-9AE5751DC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5105D-0398-ADE3-1367-32A3CC905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53E74-BEB0-8A2C-3FA4-CF2CEFF1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139B0-5237-3B58-0EE7-AD4BDDC45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A371C-214D-AFBE-924E-97FB02D69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785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2946B-0A74-7C71-9C0C-7BD97F89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809F4-27D8-5679-16BF-14B3DD8BF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0FA21-2AF6-A1C6-9B3C-82E81FF1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6FA0F-3AFC-EC64-3F21-E0D57149A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7C24E9-24E0-2B7D-EEFC-6B6C8390F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4AE4F-ACDC-7A1B-99E1-E1F812F6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D876C-F0C1-A450-497A-060B6FA0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AB7C8C-77AE-C3FD-03A3-E3948F1E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074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1CAF-EFB2-7CBB-D9E7-C90704A9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F1B98-E960-1F33-07E6-37FB3E6EB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D765A-4F4C-4401-2B90-F8CDFC506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22CCB8-B7E2-67F8-4666-12BD2F09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87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263DF-FA67-7A2E-5BDA-DB55C047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AEB25-072F-90B2-2206-E17B681D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21C1-84C3-CB5D-7C59-E5497A0B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77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D72F7-5A8C-5CC2-540D-5F429C3A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65C6F-795D-9947-6388-69A3C97DA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A393-68CD-570B-4E05-648AE12E8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5BBB9-73DD-C683-C349-F2A738FE0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741DB-34E8-8041-DE4D-4D23A5E6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CCDEF-10C3-70C8-16A3-CD9ECB8F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76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A39B-9A9F-F6FF-4716-39C5E086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99C1A-092F-1A13-64D0-7F1CA0C42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87445-1E44-2A03-DF60-AE1A5DB3E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319EC-711D-CD93-2B1E-5D154D3D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1487B-EB16-4B6F-0664-B955A916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3D411-48B3-BCA9-7EA5-B3851A2E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53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E27C-ECFE-BFBD-43BF-6F043B1AB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A9078-7C57-8607-80F9-005BED10D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C6B5-323F-77D4-0838-32E9AC53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9ED0F-1CA7-F0BE-CE5A-4CC5EB75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B5C67-1B93-E7C5-FCAC-DE1FBF6D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107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D4A3E-8B7A-72A0-89D0-FD8FA988E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1EA65-3535-4AAE-7B7E-D0F7226A4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47D1-9323-18D5-392F-EDF3DDBD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110B6-B7AE-D074-1B20-510AD55BD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83DD8-05C2-F976-DE89-2846554AA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600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and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E07CA-3FA4-36F9-E0EB-D0E6FBD7F61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16317-F58B-F836-A1AF-0034A8FFE9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75705F-056C-E84F-941D-51846364E08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08966" y="1846729"/>
            <a:ext cx="5463655" cy="3953434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359257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D11B7-B5EA-6635-2923-D77BEAEE2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04800"/>
            <a:ext cx="10326658" cy="87201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3EC90F-EC91-D35D-1C3C-FA9A79452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B988E-ABC8-D5E8-D99C-E4039CE9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35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EB3207-D6D7-31B5-58DD-5124552B57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accent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082F6F-1B34-EBEF-A892-9F7084FDB2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BD9ED4-B47C-090E-7367-97698FC8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55CF6AC-288F-E054-20CB-6F746E2C6DD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3856" y="1565266"/>
            <a:ext cx="4560982" cy="4537360"/>
          </a:xfrm>
          <a:custGeom>
            <a:avLst/>
            <a:gdLst>
              <a:gd name="connsiteX0" fmla="*/ 0 w 4560982"/>
              <a:gd name="connsiteY0" fmla="*/ 0 h 4537360"/>
              <a:gd name="connsiteX1" fmla="*/ 745738 w 4560982"/>
              <a:gd name="connsiteY1" fmla="*/ 0 h 4537360"/>
              <a:gd name="connsiteX2" fmla="*/ 745738 w 4560982"/>
              <a:gd name="connsiteY2" fmla="*/ 755263 h 4537360"/>
              <a:gd name="connsiteX3" fmla="*/ 1501738 w 4560982"/>
              <a:gd name="connsiteY3" fmla="*/ 755263 h 4537360"/>
              <a:gd name="connsiteX4" fmla="*/ 1501738 w 4560982"/>
              <a:gd name="connsiteY4" fmla="*/ 0 h 4537360"/>
              <a:gd name="connsiteX5" fmla="*/ 4560982 w 4560982"/>
              <a:gd name="connsiteY5" fmla="*/ 0 h 4537360"/>
              <a:gd name="connsiteX6" fmla="*/ 4560982 w 4560982"/>
              <a:gd name="connsiteY6" fmla="*/ 4537360 h 4537360"/>
              <a:gd name="connsiteX7" fmla="*/ 4560981 w 4560982"/>
              <a:gd name="connsiteY7" fmla="*/ 4537360 h 4537360"/>
              <a:gd name="connsiteX8" fmla="*/ 4560981 w 4560982"/>
              <a:gd name="connsiteY8" fmla="*/ 3781360 h 4537360"/>
              <a:gd name="connsiteX9" fmla="*/ 3799728 w 4560982"/>
              <a:gd name="connsiteY9" fmla="*/ 3781360 h 4537360"/>
              <a:gd name="connsiteX10" fmla="*/ 3799728 w 4560982"/>
              <a:gd name="connsiteY10" fmla="*/ 4537360 h 4537360"/>
              <a:gd name="connsiteX11" fmla="*/ 1515451 w 4560982"/>
              <a:gd name="connsiteY11" fmla="*/ 4537360 h 4537360"/>
              <a:gd name="connsiteX12" fmla="*/ 1515451 w 4560982"/>
              <a:gd name="connsiteY12" fmla="*/ 3781360 h 4537360"/>
              <a:gd name="connsiteX13" fmla="*/ 0 w 4560982"/>
              <a:gd name="connsiteY13" fmla="*/ 3781360 h 45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60982" h="4537360">
                <a:moveTo>
                  <a:pt x="0" y="0"/>
                </a:moveTo>
                <a:lnTo>
                  <a:pt x="745738" y="0"/>
                </a:lnTo>
                <a:lnTo>
                  <a:pt x="745738" y="755263"/>
                </a:lnTo>
                <a:lnTo>
                  <a:pt x="1501738" y="755263"/>
                </a:lnTo>
                <a:lnTo>
                  <a:pt x="1501738" y="0"/>
                </a:lnTo>
                <a:lnTo>
                  <a:pt x="4560982" y="0"/>
                </a:lnTo>
                <a:lnTo>
                  <a:pt x="4560982" y="4537360"/>
                </a:lnTo>
                <a:lnTo>
                  <a:pt x="4560981" y="4537360"/>
                </a:lnTo>
                <a:lnTo>
                  <a:pt x="4560981" y="3781360"/>
                </a:lnTo>
                <a:lnTo>
                  <a:pt x="3799728" y="3781360"/>
                </a:lnTo>
                <a:lnTo>
                  <a:pt x="3799728" y="4537360"/>
                </a:lnTo>
                <a:lnTo>
                  <a:pt x="1515451" y="4537360"/>
                </a:lnTo>
                <a:lnTo>
                  <a:pt x="1515451" y="3781360"/>
                </a:lnTo>
                <a:lnTo>
                  <a:pt x="0" y="378136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90069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D528169-2D45-F199-48F8-B90B9D00B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360000"/>
            <a:ext cx="1364673" cy="136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14B50-6CC5-20B8-4A45-61C1C35C61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19" t="15896" b="10577"/>
          <a:stretch/>
        </p:blipFill>
        <p:spPr>
          <a:xfrm>
            <a:off x="6174263" y="-1"/>
            <a:ext cx="5512067" cy="685800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6055DAA-457B-6AC2-63F8-2305D65F8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5826109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7DAFFF-BA39-3C2C-6642-60CD9E632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5826109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34368-A861-D66F-5B24-BB4F42080A5E}"/>
              </a:ext>
            </a:extLst>
          </p:cNvPr>
          <p:cNvSpPr txBox="1"/>
          <p:nvPr userDrawn="1"/>
        </p:nvSpPr>
        <p:spPr>
          <a:xfrm>
            <a:off x="10480676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1105136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265EC-BC33-A3F5-4716-BB4910791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C2347-0275-8E5F-6580-6DFD83EB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BAC2A-66D8-B052-4A14-D95FAF46C1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7BD89C-06E8-46EE-8E9A-D9FACBAB875B}" type="datetimeFigureOut">
              <a:rPr lang="en-IN" smtClean="0"/>
              <a:t>11-05-2025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F7ED-9A4F-FB67-F79B-FF91FE74C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E7E5B-25BD-0DFB-913F-EBF13B448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1CDAC-0B0C-4C4C-91A3-C17D1533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12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hyperlink" Target="https://public.tableau.com/app/profile/yamuna.g.c/viz/DVN_HotelBookings/Dashboard1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hyperlink" Target="https://public.tableau.com/app/profile/yamuna.g.c/viz/DVN_HotelBookings/Dashboard1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5BDDDA-CF1E-5548-ADE1-8FB4DB8FF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1279092"/>
            <a:ext cx="0" cy="3026208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E3FA7-037C-E147-836A-A5B844F4689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97432" y="2909722"/>
            <a:ext cx="4213990" cy="716451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Reveal booking trends and guest behaviors to help hotel managers boost revenue, reduce cancellations, and plan for peak periods</a:t>
            </a:r>
            <a:endParaRPr lang="en-AU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B58A7-471A-D54C-87E8-50973B8D2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3" y="188890"/>
            <a:ext cx="10326658" cy="591658"/>
          </a:xfrm>
        </p:spPr>
        <p:txBody>
          <a:bodyPr>
            <a:normAutofit/>
          </a:bodyPr>
          <a:lstStyle/>
          <a:p>
            <a:r>
              <a:rPr lang="en-US" sz="2800" dirty="0"/>
              <a:t>Group 27: Hotel Booking Overview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06175AC-43FB-D31B-431B-6DF76BD5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6265" y="780549"/>
            <a:ext cx="10318246" cy="49854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Tony Xie | Ananya Srinivas | Yamuna G C | Adrian Mato | Nakul Sidiginamola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71D558-EF0A-CF3D-20C0-48E605142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1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32024A-71B5-364A-9C04-AEA9384BA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302506"/>
            <a:ext cx="12192000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1C1F6D-5729-36EF-DA5C-4D4550A3F095}"/>
              </a:ext>
            </a:extLst>
          </p:cNvPr>
          <p:cNvGrpSpPr/>
          <p:nvPr/>
        </p:nvGrpSpPr>
        <p:grpSpPr>
          <a:xfrm>
            <a:off x="690665" y="1554457"/>
            <a:ext cx="622570" cy="622570"/>
            <a:chOff x="691335" y="4094216"/>
            <a:chExt cx="622570" cy="62257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D70AAA3-895C-9349-9F9D-32FC2C4E8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4094216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8E8C7-C4D4-3617-BC28-2F438595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0351" b="10351"/>
            <a:stretch/>
          </p:blipFill>
          <p:spPr>
            <a:xfrm>
              <a:off x="809346" y="4252943"/>
              <a:ext cx="395482" cy="313609"/>
            </a:xfrm>
            <a:prstGeom prst="rect">
              <a:avLst/>
            </a:prstGeom>
          </p:spPr>
        </p:pic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086A114-7480-125F-CC7D-5C2B0AC612EC}"/>
              </a:ext>
            </a:extLst>
          </p:cNvPr>
          <p:cNvSpPr txBox="1">
            <a:spLocks/>
          </p:cNvSpPr>
          <p:nvPr/>
        </p:nvSpPr>
        <p:spPr>
          <a:xfrm>
            <a:off x="6675982" y="1999274"/>
            <a:ext cx="4213990" cy="1563583"/>
          </a:xfrm>
          <a:prstGeom prst="rect">
            <a:avLst/>
          </a:prstGeom>
          <a:noFill/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Ever wondered why hotel bookings spike or guests cancel at the last minute?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We dug into 119,000+ bookings to find out what drives these trends.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From pricing to planning, our story gives hotels the insights they need to thrive.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9B8108-AD2E-2EDB-8F45-790F25226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091" y="1279947"/>
            <a:ext cx="0" cy="630821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E1E5DA3-BDE9-1DD1-9EE0-B446C2C7E386}"/>
              </a:ext>
            </a:extLst>
          </p:cNvPr>
          <p:cNvSpPr txBox="1">
            <a:spLocks/>
          </p:cNvSpPr>
          <p:nvPr/>
        </p:nvSpPr>
        <p:spPr>
          <a:xfrm>
            <a:off x="1397432" y="1947625"/>
            <a:ext cx="4213990" cy="304048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Hotel Managers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2E8143-3BE7-B133-B0DB-9D60933CA66A}"/>
              </a:ext>
            </a:extLst>
          </p:cNvPr>
          <p:cNvGrpSpPr/>
          <p:nvPr/>
        </p:nvGrpSpPr>
        <p:grpSpPr>
          <a:xfrm>
            <a:off x="5928806" y="1513180"/>
            <a:ext cx="622570" cy="622570"/>
            <a:chOff x="691335" y="3148328"/>
            <a:chExt cx="622570" cy="62257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CF61D9D-70FC-7240-835B-879950BED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3148328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FC0D20A-47CB-754C-E8E7-030DD231A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15941" y="3266692"/>
              <a:ext cx="380829" cy="381854"/>
            </a:xfrm>
            <a:prstGeom prst="rect">
              <a:avLst/>
            </a:prstGeom>
          </p:spPr>
        </p:pic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604724F0-E8CB-A2D7-9A07-D1FBE5DAA801}"/>
              </a:ext>
            </a:extLst>
          </p:cNvPr>
          <p:cNvSpPr txBox="1">
            <a:spLocks/>
          </p:cNvSpPr>
          <p:nvPr/>
        </p:nvSpPr>
        <p:spPr>
          <a:xfrm>
            <a:off x="1388288" y="1583823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Audience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E977608A-5C90-17F6-5882-3C907F907A1E}"/>
              </a:ext>
            </a:extLst>
          </p:cNvPr>
          <p:cNvSpPr txBox="1">
            <a:spLocks/>
          </p:cNvSpPr>
          <p:nvPr/>
        </p:nvSpPr>
        <p:spPr>
          <a:xfrm>
            <a:off x="1397432" y="2531133"/>
            <a:ext cx="421399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Task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C4965710-B886-7CE7-78A3-90879D9377D9}"/>
              </a:ext>
            </a:extLst>
          </p:cNvPr>
          <p:cNvSpPr txBox="1">
            <a:spLocks/>
          </p:cNvSpPr>
          <p:nvPr/>
        </p:nvSpPr>
        <p:spPr>
          <a:xfrm>
            <a:off x="6675982" y="1532179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76C64A-555E-F74E-EA15-4E62B8108C73}"/>
              </a:ext>
            </a:extLst>
          </p:cNvPr>
          <p:cNvGrpSpPr/>
          <p:nvPr/>
        </p:nvGrpSpPr>
        <p:grpSpPr>
          <a:xfrm>
            <a:off x="690665" y="3887354"/>
            <a:ext cx="647486" cy="647484"/>
            <a:chOff x="8820437" y="4227266"/>
            <a:chExt cx="647486" cy="64748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63DFC0A-4C96-F044-163F-5AA0E3627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437" y="4227266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41">
              <a:extLst>
                <a:ext uri="{FF2B5EF4-FFF2-40B4-BE49-F238E27FC236}">
                  <a16:creationId xmlns:a16="http://schemas.microsoft.com/office/drawing/2014/main" id="{958AF43A-6578-E5FE-D642-FF29CC71F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9500" b="9500"/>
            <a:stretch/>
          </p:blipFill>
          <p:spPr>
            <a:xfrm>
              <a:off x="8899733" y="4392542"/>
              <a:ext cx="488893" cy="396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5D8973C-D054-DB1D-6E5A-A60286EA8EF2}"/>
              </a:ext>
            </a:extLst>
          </p:cNvPr>
          <p:cNvGrpSpPr/>
          <p:nvPr/>
        </p:nvGrpSpPr>
        <p:grpSpPr>
          <a:xfrm>
            <a:off x="705446" y="2525336"/>
            <a:ext cx="622570" cy="622570"/>
            <a:chOff x="691335" y="2202440"/>
            <a:chExt cx="622570" cy="62257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BD5FE0-D209-B742-A3F4-C637A5929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2202440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4CD6194-692D-F246-848D-AEBE87CD3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59632" y="2368336"/>
              <a:ext cx="298288" cy="298288"/>
            </a:xfrm>
            <a:prstGeom prst="rect">
              <a:avLst/>
            </a:prstGeom>
          </p:spPr>
        </p:pic>
      </p:grp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1915436-3AD8-2816-EAE6-4C288A48BE46}"/>
              </a:ext>
            </a:extLst>
          </p:cNvPr>
          <p:cNvSpPr txBox="1">
            <a:spLocks/>
          </p:cNvSpPr>
          <p:nvPr/>
        </p:nvSpPr>
        <p:spPr>
          <a:xfrm>
            <a:off x="1336980" y="4004762"/>
            <a:ext cx="9806221" cy="894791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“Slip on your sharp hotel manager’s blazer, For the next few minutes, you’re the decision-maker for high-stakes decisions from maximizing hotel revenue to reducing cancellations, and planning for peak periods.”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469B009-EC99-F3F6-0912-F899C05F97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2004" y="4781826"/>
            <a:ext cx="1362815" cy="13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3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9ED91-FFA3-26F6-D736-E15177BC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CC018DD-CB98-9D75-487B-315E256C8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01950" y="2488307"/>
            <a:ext cx="0" cy="3026208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D237F-7CFE-E2F5-47DB-4EFE0298052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97432" y="4118937"/>
            <a:ext cx="4213990" cy="716451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Reveal booking trends and guest behaviors to help hotel managers boost revenue, reduce cancellations, and plan for peak periods</a:t>
            </a:r>
            <a:endParaRPr lang="en-AU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F36C-8C52-B3F2-CF35-487D3D8D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3" y="188890"/>
            <a:ext cx="10326658" cy="591658"/>
          </a:xfrm>
        </p:spPr>
        <p:txBody>
          <a:bodyPr>
            <a:normAutofit/>
          </a:bodyPr>
          <a:lstStyle/>
          <a:p>
            <a:r>
              <a:rPr lang="en-US" sz="2800" dirty="0"/>
              <a:t>Group 27: Hotel Booking Overview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FC11D3E4-DC72-6E75-F793-A6DD31097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5446" y="867930"/>
            <a:ext cx="2287907" cy="15644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Tony Xie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Ananya Srinivas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Yamuna G C 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Adrian Mato 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Nakul Sidiginamola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81BD299-1BE5-AA75-4FE8-023371D39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E4FECA-2BDC-5FDE-F7CA-ECF3EEB96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2511721"/>
            <a:ext cx="12192000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58C957-0711-58A8-DE5F-AF5206344E1C}"/>
              </a:ext>
            </a:extLst>
          </p:cNvPr>
          <p:cNvGrpSpPr/>
          <p:nvPr/>
        </p:nvGrpSpPr>
        <p:grpSpPr>
          <a:xfrm>
            <a:off x="690665" y="2763672"/>
            <a:ext cx="622570" cy="622570"/>
            <a:chOff x="691335" y="4094216"/>
            <a:chExt cx="622570" cy="62257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A96E200-5162-5110-9450-7FDBBFE7CE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4094216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0B6F5D5-5FA2-AAF7-EA48-A1A0FE82E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0351" b="10351"/>
            <a:stretch/>
          </p:blipFill>
          <p:spPr>
            <a:xfrm>
              <a:off x="809346" y="4252943"/>
              <a:ext cx="395482" cy="313609"/>
            </a:xfrm>
            <a:prstGeom prst="rect">
              <a:avLst/>
            </a:prstGeom>
          </p:spPr>
        </p:pic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7BD8BD8-2C01-7752-BF11-3D1E2B37EB5B}"/>
              </a:ext>
            </a:extLst>
          </p:cNvPr>
          <p:cNvSpPr txBox="1">
            <a:spLocks/>
          </p:cNvSpPr>
          <p:nvPr/>
        </p:nvSpPr>
        <p:spPr>
          <a:xfrm>
            <a:off x="6675982" y="3208489"/>
            <a:ext cx="4213990" cy="1563583"/>
          </a:xfrm>
          <a:prstGeom prst="rect">
            <a:avLst/>
          </a:prstGeom>
          <a:noFill/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Ever wondered why hotel bookings spike or guests cancel at the last minute?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We dug into 119,000+ bookings to find out what drives these trends.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/>
              <a:t>From pricing to planning, our story gives hotels the insights they need to thrive.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27C7AB-9A09-83B3-34C6-C10914B29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091" y="2489162"/>
            <a:ext cx="0" cy="630821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73AC363-CFE1-B55E-6892-0933AA76B93D}"/>
              </a:ext>
            </a:extLst>
          </p:cNvPr>
          <p:cNvSpPr txBox="1">
            <a:spLocks/>
          </p:cNvSpPr>
          <p:nvPr/>
        </p:nvSpPr>
        <p:spPr>
          <a:xfrm>
            <a:off x="1397432" y="3156840"/>
            <a:ext cx="4213990" cy="304048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Hotel Managers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F8C9DF-7829-A236-77A7-9A651992EB10}"/>
              </a:ext>
            </a:extLst>
          </p:cNvPr>
          <p:cNvGrpSpPr/>
          <p:nvPr/>
        </p:nvGrpSpPr>
        <p:grpSpPr>
          <a:xfrm>
            <a:off x="5928806" y="2722395"/>
            <a:ext cx="622570" cy="622570"/>
            <a:chOff x="691335" y="3148328"/>
            <a:chExt cx="622570" cy="62257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98567D5-64E7-4DB4-895E-640CFEA2F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3148328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AB76A6-76F5-8062-0C1B-D9BC9F2D4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15941" y="3266692"/>
              <a:ext cx="380829" cy="381854"/>
            </a:xfrm>
            <a:prstGeom prst="rect">
              <a:avLst/>
            </a:prstGeom>
          </p:spPr>
        </p:pic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BEE38CE8-4CE6-3098-A845-694F8E863037}"/>
              </a:ext>
            </a:extLst>
          </p:cNvPr>
          <p:cNvSpPr txBox="1">
            <a:spLocks/>
          </p:cNvSpPr>
          <p:nvPr/>
        </p:nvSpPr>
        <p:spPr>
          <a:xfrm>
            <a:off x="1388288" y="2793038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Audience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BBF6776E-20C3-F39C-6196-FF9F9A4CDA76}"/>
              </a:ext>
            </a:extLst>
          </p:cNvPr>
          <p:cNvSpPr txBox="1">
            <a:spLocks/>
          </p:cNvSpPr>
          <p:nvPr/>
        </p:nvSpPr>
        <p:spPr>
          <a:xfrm>
            <a:off x="1397432" y="3740348"/>
            <a:ext cx="421399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Task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876A627-73C8-8D29-1388-0AC75DBE03FD}"/>
              </a:ext>
            </a:extLst>
          </p:cNvPr>
          <p:cNvSpPr txBox="1">
            <a:spLocks/>
          </p:cNvSpPr>
          <p:nvPr/>
        </p:nvSpPr>
        <p:spPr>
          <a:xfrm>
            <a:off x="6675982" y="2741394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9D42D95-0257-B6F7-DC7B-9AD7A85FF72B}"/>
              </a:ext>
            </a:extLst>
          </p:cNvPr>
          <p:cNvGrpSpPr/>
          <p:nvPr/>
        </p:nvGrpSpPr>
        <p:grpSpPr>
          <a:xfrm>
            <a:off x="690665" y="5096569"/>
            <a:ext cx="647486" cy="647484"/>
            <a:chOff x="8820437" y="4227266"/>
            <a:chExt cx="647486" cy="64748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3AB74CB-B92B-22FE-2323-78D15A8153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437" y="4227266"/>
              <a:ext cx="647486" cy="647484"/>
            </a:xfrm>
            <a:prstGeom prst="ellipse">
              <a:avLst/>
            </a:prstGeom>
            <a:solidFill>
              <a:schemeClr val="accent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41">
              <a:extLst>
                <a:ext uri="{FF2B5EF4-FFF2-40B4-BE49-F238E27FC236}">
                  <a16:creationId xmlns:a16="http://schemas.microsoft.com/office/drawing/2014/main" id="{F53B472F-C180-C7D7-891A-C1E75661F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9500" b="9500"/>
            <a:stretch/>
          </p:blipFill>
          <p:spPr>
            <a:xfrm>
              <a:off x="8899733" y="4392542"/>
              <a:ext cx="488893" cy="396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DC997F-503D-454E-87B6-A74B1BFD85A2}"/>
              </a:ext>
            </a:extLst>
          </p:cNvPr>
          <p:cNvGrpSpPr/>
          <p:nvPr/>
        </p:nvGrpSpPr>
        <p:grpSpPr>
          <a:xfrm>
            <a:off x="705446" y="3734551"/>
            <a:ext cx="622570" cy="622570"/>
            <a:chOff x="691335" y="2202440"/>
            <a:chExt cx="622570" cy="62257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61F9948-1B0B-FD83-5348-569F3FEE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2202440"/>
              <a:ext cx="622570" cy="6225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3AF90BD-DC6C-F2B5-893D-99DCA3943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59632" y="2368336"/>
              <a:ext cx="298288" cy="298288"/>
            </a:xfrm>
            <a:prstGeom prst="rect">
              <a:avLst/>
            </a:prstGeom>
          </p:spPr>
        </p:pic>
      </p:grp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4BF9E87-A778-172D-DBA0-62C81C9F0D07}"/>
              </a:ext>
            </a:extLst>
          </p:cNvPr>
          <p:cNvSpPr txBox="1">
            <a:spLocks/>
          </p:cNvSpPr>
          <p:nvPr/>
        </p:nvSpPr>
        <p:spPr>
          <a:xfrm>
            <a:off x="1336980" y="5213977"/>
            <a:ext cx="9806221" cy="894791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“Slip on your sharp hotel manager’s blazer, For the next few minutes, you’re the decision-maker for high-stakes decisions from maximizing hotel revenue to reducing cancellations, and planning for peak periods.”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C9917E-862A-613E-C122-26523D0CCB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0386" y="638468"/>
            <a:ext cx="1362815" cy="136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8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53B0E19-2532-48FB-9BA6-03F7D0996594}"/>
              </a:ext>
            </a:extLst>
          </p:cNvPr>
          <p:cNvSpPr/>
          <p:nvPr/>
        </p:nvSpPr>
        <p:spPr>
          <a:xfrm>
            <a:off x="3731589" y="4256784"/>
            <a:ext cx="473274" cy="431529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0B810D-58FB-68CB-8927-449EBC047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1581" y="6356350"/>
            <a:ext cx="408709" cy="365125"/>
          </a:xfrm>
        </p:spPr>
        <p:txBody>
          <a:bodyPr/>
          <a:lstStyle/>
          <a:p>
            <a:fld id="{5F51FA37-3D95-DD4F-A79E-5508DFB6D295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443697D-6E2A-AE6C-9682-F02A9999BCDD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3364" y="2095788"/>
            <a:ext cx="3021585" cy="2592525"/>
          </a:xfr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79456F2-EBD0-732D-02D8-4BA35ACF97D3}"/>
              </a:ext>
            </a:extLst>
          </p:cNvPr>
          <p:cNvSpPr txBox="1">
            <a:spLocks/>
          </p:cNvSpPr>
          <p:nvPr/>
        </p:nvSpPr>
        <p:spPr>
          <a:xfrm>
            <a:off x="2546519" y="250158"/>
            <a:ext cx="7098962" cy="591658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AU" sz="3600" b="0" i="0" kern="1200" spc="-20" baseline="0" smtClean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  <a:latin typeface="Georgia" panose="02040502050405020303" pitchFamily="18" charset="0"/>
              </a:rPr>
              <a:t>Hotel Booking Overview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C011D24-537A-AAF0-C272-F569BA34ABF7}"/>
              </a:ext>
            </a:extLst>
          </p:cNvPr>
          <p:cNvSpPr txBox="1">
            <a:spLocks/>
          </p:cNvSpPr>
          <p:nvPr/>
        </p:nvSpPr>
        <p:spPr>
          <a:xfrm>
            <a:off x="2361783" y="6343897"/>
            <a:ext cx="7468433" cy="365125"/>
          </a:xfrm>
          <a:prstGeom prst="rect">
            <a:avLst/>
          </a:prstGeom>
        </p:spPr>
        <p:txBody>
          <a:bodyPr vert="horz" lIns="0" tIns="54000" rIns="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Tony Xie | Ananya Srinivas | Yamuna G C | Adrian Mato | Nakul Sidiginamola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1F6027-21C4-5ED8-30DB-5A783A487640}"/>
              </a:ext>
            </a:extLst>
          </p:cNvPr>
          <p:cNvGrpSpPr/>
          <p:nvPr/>
        </p:nvGrpSpPr>
        <p:grpSpPr>
          <a:xfrm>
            <a:off x="4419693" y="1428651"/>
            <a:ext cx="622570" cy="622570"/>
            <a:chOff x="691335" y="4094216"/>
            <a:chExt cx="622570" cy="622570"/>
          </a:xfrm>
          <a:solidFill>
            <a:srgbClr val="F28E2B"/>
          </a:soli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A88848-936A-265B-A95C-3074304BA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4094216"/>
              <a:ext cx="622570" cy="622570"/>
            </a:xfrm>
            <a:prstGeom prst="ellipse">
              <a:avLst/>
            </a:prstGeom>
            <a:grpFill/>
            <a:ln w="127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pic>
          <p:nvPicPr>
            <p:cNvPr id="18" name="Picture 5">
              <a:extLst>
                <a:ext uri="{FF2B5EF4-FFF2-40B4-BE49-F238E27FC236}">
                  <a16:creationId xmlns:a16="http://schemas.microsoft.com/office/drawing/2014/main" id="{2B31046D-7964-ABE1-7811-2F8D8A171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10351" b="10351"/>
            <a:stretch/>
          </p:blipFill>
          <p:spPr>
            <a:xfrm>
              <a:off x="809346" y="4252943"/>
              <a:ext cx="395482" cy="313609"/>
            </a:xfrm>
            <a:prstGeom prst="rect">
              <a:avLst/>
            </a:prstGeom>
          </p:spPr>
        </p:pic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6B688CD-BF53-0E41-F0DE-29B5ED72D018}"/>
              </a:ext>
            </a:extLst>
          </p:cNvPr>
          <p:cNvSpPr txBox="1">
            <a:spLocks/>
          </p:cNvSpPr>
          <p:nvPr/>
        </p:nvSpPr>
        <p:spPr>
          <a:xfrm>
            <a:off x="5149732" y="2744720"/>
            <a:ext cx="6676202" cy="964195"/>
          </a:xfrm>
          <a:prstGeom prst="rect">
            <a:avLst/>
          </a:prstGeom>
          <a:noFill/>
        </p:spPr>
        <p:txBody>
          <a:bodyPr vert="horz" lIns="91440" tIns="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  <a:latin typeface="Georgia" panose="02040502050405020303" pitchFamily="18" charset="0"/>
              </a:rPr>
              <a:t>Hotel bookings spike, and cancellations happen unexpectedly. By analyzing 119,000+ bookings, we uncovered key trends in pricing, guest behavior, and seasonality—providing insights that help hotels thrive.</a:t>
            </a:r>
            <a:endParaRPr lang="en-IN" sz="1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0AA6A7A-B152-9F5B-4BA2-5B57C3133102}"/>
              </a:ext>
            </a:extLst>
          </p:cNvPr>
          <p:cNvSpPr txBox="1">
            <a:spLocks/>
          </p:cNvSpPr>
          <p:nvPr/>
        </p:nvSpPr>
        <p:spPr>
          <a:xfrm>
            <a:off x="5126617" y="1765650"/>
            <a:ext cx="4213990" cy="304048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bg1"/>
                </a:solidFill>
                <a:latin typeface="Georgia" panose="02040502050405020303" pitchFamily="18" charset="0"/>
              </a:rPr>
              <a:t>Hotel Managers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0CB6FF-6AEB-2292-7659-D139A67947F4}"/>
              </a:ext>
            </a:extLst>
          </p:cNvPr>
          <p:cNvGrpSpPr/>
          <p:nvPr/>
        </p:nvGrpSpPr>
        <p:grpSpPr>
          <a:xfrm>
            <a:off x="4466847" y="2426042"/>
            <a:ext cx="622570" cy="622570"/>
            <a:chOff x="691335" y="3148328"/>
            <a:chExt cx="622570" cy="622570"/>
          </a:xfrm>
          <a:solidFill>
            <a:srgbClr val="F28E2B"/>
          </a:solidFill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C3BC52-9FC3-CA15-F6C3-6D016D7EE7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3148328"/>
              <a:ext cx="622570" cy="62257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pic>
          <p:nvPicPr>
            <p:cNvPr id="23" name="Picture 3">
              <a:extLst>
                <a:ext uri="{FF2B5EF4-FFF2-40B4-BE49-F238E27FC236}">
                  <a16:creationId xmlns:a16="http://schemas.microsoft.com/office/drawing/2014/main" id="{4632D44B-5E95-3324-9BEB-92CD6E3D5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815941" y="3266692"/>
              <a:ext cx="380829" cy="381854"/>
            </a:xfrm>
            <a:prstGeom prst="rect">
              <a:avLst/>
            </a:prstGeom>
          </p:spPr>
        </p:pic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1B907244-83BA-75C6-CE71-C3BD1640E216}"/>
              </a:ext>
            </a:extLst>
          </p:cNvPr>
          <p:cNvSpPr txBox="1">
            <a:spLocks/>
          </p:cNvSpPr>
          <p:nvPr/>
        </p:nvSpPr>
        <p:spPr>
          <a:xfrm>
            <a:off x="5149732" y="1409531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Target Audience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849521F4-E3DE-CE44-33BA-84CAF0B45DE1}"/>
              </a:ext>
            </a:extLst>
          </p:cNvPr>
          <p:cNvSpPr txBox="1">
            <a:spLocks/>
          </p:cNvSpPr>
          <p:nvPr/>
        </p:nvSpPr>
        <p:spPr>
          <a:xfrm>
            <a:off x="5149733" y="2342277"/>
            <a:ext cx="442386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 Story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EA26FCF-573C-C1C3-DFEB-DA3FDD42F6B8}"/>
              </a:ext>
            </a:extLst>
          </p:cNvPr>
          <p:cNvSpPr txBox="1">
            <a:spLocks/>
          </p:cNvSpPr>
          <p:nvPr/>
        </p:nvSpPr>
        <p:spPr>
          <a:xfrm>
            <a:off x="5161014" y="4110548"/>
            <a:ext cx="6490245" cy="716451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Reveal booking trends and guest behaviors to help hotel managers boost revenue, reduce cancellations, and plan for peak periods</a:t>
            </a:r>
            <a:endParaRPr lang="en-AU" sz="1400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FCF2833-44AD-10FA-4CB4-D30329E7D17B}"/>
              </a:ext>
            </a:extLst>
          </p:cNvPr>
          <p:cNvSpPr txBox="1">
            <a:spLocks/>
          </p:cNvSpPr>
          <p:nvPr/>
        </p:nvSpPr>
        <p:spPr>
          <a:xfrm>
            <a:off x="5172295" y="3776898"/>
            <a:ext cx="4213990" cy="37858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Main Task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DE91259-EC9B-F717-4947-C3E11867506C}"/>
              </a:ext>
            </a:extLst>
          </p:cNvPr>
          <p:cNvGrpSpPr/>
          <p:nvPr/>
        </p:nvGrpSpPr>
        <p:grpSpPr>
          <a:xfrm>
            <a:off x="4479131" y="5001968"/>
            <a:ext cx="647486" cy="647484"/>
            <a:chOff x="8820437" y="4227266"/>
            <a:chExt cx="647486" cy="647484"/>
          </a:xfrm>
          <a:solidFill>
            <a:srgbClr val="F28E2B"/>
          </a:solidFill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0609BAF-6F97-412A-7B3F-12F3485044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20437" y="4227266"/>
              <a:ext cx="647486" cy="647484"/>
            </a:xfrm>
            <a:prstGeom prst="ellipse">
              <a:avLst/>
            </a:prstGeom>
            <a:grpFill/>
            <a:ln w="31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41">
              <a:extLst>
                <a:ext uri="{FF2B5EF4-FFF2-40B4-BE49-F238E27FC236}">
                  <a16:creationId xmlns:a16="http://schemas.microsoft.com/office/drawing/2014/main" id="{6A624FBA-D8CE-5021-FCDA-723ADAFFA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t="9500" b="9500"/>
            <a:stretch/>
          </p:blipFill>
          <p:spPr>
            <a:xfrm>
              <a:off x="8899734" y="4392542"/>
              <a:ext cx="473708" cy="3837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AAB5F0-A67E-DC9C-3B0E-DF9467420A7B}"/>
              </a:ext>
            </a:extLst>
          </p:cNvPr>
          <p:cNvGrpSpPr/>
          <p:nvPr/>
        </p:nvGrpSpPr>
        <p:grpSpPr>
          <a:xfrm>
            <a:off x="4480309" y="3828251"/>
            <a:ext cx="622570" cy="622570"/>
            <a:chOff x="691335" y="2202440"/>
            <a:chExt cx="622570" cy="622570"/>
          </a:xfrm>
          <a:solidFill>
            <a:srgbClr val="F28E2B"/>
          </a:solidFill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2A545FD-676E-7EDB-5FF3-CA04304E6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91335" y="2202440"/>
              <a:ext cx="622570" cy="622570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pic>
          <p:nvPicPr>
            <p:cNvPr id="38" name="Picture 25">
              <a:extLst>
                <a:ext uri="{FF2B5EF4-FFF2-40B4-BE49-F238E27FC236}">
                  <a16:creationId xmlns:a16="http://schemas.microsoft.com/office/drawing/2014/main" id="{6820549E-C35A-9D8E-7437-6AC44BE03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859632" y="2368336"/>
              <a:ext cx="298288" cy="298288"/>
            </a:xfrm>
            <a:prstGeom prst="rect">
              <a:avLst/>
            </a:prstGeom>
          </p:spPr>
        </p:pic>
      </p:grp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BD35E07-338E-2EB6-1743-2A8617C1A82E}"/>
              </a:ext>
            </a:extLst>
          </p:cNvPr>
          <p:cNvSpPr txBox="1">
            <a:spLocks/>
          </p:cNvSpPr>
          <p:nvPr/>
        </p:nvSpPr>
        <p:spPr>
          <a:xfrm>
            <a:off x="5172293" y="5039474"/>
            <a:ext cx="6653641" cy="975834"/>
          </a:xfrm>
          <a:prstGeom prst="rect">
            <a:avLst/>
          </a:prstGeom>
          <a:noFill/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kern="1200"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solidFill>
                  <a:schemeClr val="bg1"/>
                </a:solidFill>
                <a:latin typeface="Georgia" panose="02040502050405020303" pitchFamily="18" charset="0"/>
              </a:rPr>
              <a:t>“Slip on your sharp hotel manager’s blazer, For the next few minutes, you’re the decision-maker for high-stakes decisions from maximizing hotel revenue to reducing cancellations, and planning for peak periods.”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E52FF5B-4769-32E1-44BA-E0F02AB94B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720" y="199209"/>
            <a:ext cx="1014542" cy="86607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767C2CF-5F52-9272-19EE-E56A206BBE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3143" y="6147020"/>
            <a:ext cx="1552792" cy="7074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2C10AA-B2D6-743D-9E58-AF3264C9819B}"/>
              </a:ext>
            </a:extLst>
          </p:cNvPr>
          <p:cNvSpPr/>
          <p:nvPr/>
        </p:nvSpPr>
        <p:spPr>
          <a:xfrm>
            <a:off x="384988" y="4051756"/>
            <a:ext cx="1312368" cy="1667063"/>
          </a:xfrm>
          <a:prstGeom prst="rect">
            <a:avLst/>
          </a:prstGeom>
          <a:solidFill>
            <a:srgbClr val="F28E2B"/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hlinkClick r:id="rId13"/>
            <a:extLst>
              <a:ext uri="{FF2B5EF4-FFF2-40B4-BE49-F238E27FC236}">
                <a16:creationId xmlns:a16="http://schemas.microsoft.com/office/drawing/2014/main" id="{79333CF5-91F5-3958-BD54-2EE1384F532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115" y="4099753"/>
            <a:ext cx="1194325" cy="1204693"/>
          </a:xfrm>
          <a:prstGeom prst="rect">
            <a:avLst/>
          </a:prstGeom>
        </p:spPr>
      </p:pic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4102B761-937A-47CD-0CB4-BC1E5E7AF145}"/>
              </a:ext>
            </a:extLst>
          </p:cNvPr>
          <p:cNvSpPr txBox="1">
            <a:spLocks/>
          </p:cNvSpPr>
          <p:nvPr/>
        </p:nvSpPr>
        <p:spPr>
          <a:xfrm>
            <a:off x="509332" y="5329638"/>
            <a:ext cx="1061685" cy="314336"/>
          </a:xfrm>
          <a:prstGeom prst="rect">
            <a:avLst/>
          </a:prstGeom>
        </p:spPr>
        <p:txBody>
          <a:bodyPr vert="horz" lIns="0" tIns="54000" rIns="0" bIns="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Scan to explore the dashboard</a:t>
            </a:r>
            <a:endParaRPr lang="en-US" sz="1200" b="1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0C18B1F-5AB9-AF8A-2CB0-B37F829B7E00}"/>
              </a:ext>
            </a:extLst>
          </p:cNvPr>
          <p:cNvSpPr txBox="1">
            <a:spLocks/>
          </p:cNvSpPr>
          <p:nvPr/>
        </p:nvSpPr>
        <p:spPr>
          <a:xfrm>
            <a:off x="1743032" y="4702099"/>
            <a:ext cx="1891386" cy="365125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i="1" dirty="0">
                <a:solidFill>
                  <a:schemeClr val="bg1">
                    <a:lumMod val="75000"/>
                  </a:schemeClr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Image for illustration only</a:t>
            </a:r>
          </a:p>
          <a:p>
            <a:pPr algn="ctr"/>
            <a:r>
              <a:rPr lang="en-US" sz="900" i="1" dirty="0">
                <a:solidFill>
                  <a:schemeClr val="bg1">
                    <a:lumMod val="75000"/>
                  </a:schemeClr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Source: York Hotel(Singapore)</a:t>
            </a:r>
            <a:endParaRPr lang="en-US" sz="900" i="1" dirty="0">
              <a:solidFill>
                <a:schemeClr val="bg1">
                  <a:lumMod val="75000"/>
                </a:schemeClr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5683C926-49BA-F64D-7F82-066D1FE30841}"/>
              </a:ext>
            </a:extLst>
          </p:cNvPr>
          <p:cNvSpPr txBox="1">
            <a:spLocks/>
          </p:cNvSpPr>
          <p:nvPr/>
        </p:nvSpPr>
        <p:spPr>
          <a:xfrm>
            <a:off x="745569" y="1584094"/>
            <a:ext cx="3021585" cy="417237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Welcome, Hotel Managers!</a:t>
            </a:r>
            <a:endParaRPr lang="en-US" sz="18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668496-79DF-7259-FD59-A896262982FB}"/>
              </a:ext>
            </a:extLst>
          </p:cNvPr>
          <p:cNvGrpSpPr/>
          <p:nvPr/>
        </p:nvGrpSpPr>
        <p:grpSpPr>
          <a:xfrm>
            <a:off x="10838738" y="341835"/>
            <a:ext cx="1105005" cy="546207"/>
            <a:chOff x="15770018" y="-785505"/>
            <a:chExt cx="1519200" cy="1519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670E09-18F4-37DC-4537-DB92E4D090FF}"/>
                </a:ext>
              </a:extLst>
            </p:cNvPr>
            <p:cNvSpPr/>
            <p:nvPr/>
          </p:nvSpPr>
          <p:spPr>
            <a:xfrm>
              <a:off x="15770018" y="-785505"/>
              <a:ext cx="1519200" cy="1519200"/>
            </a:xfrm>
            <a:prstGeom prst="rect">
              <a:avLst/>
            </a:prstGeom>
            <a:solidFill>
              <a:srgbClr val="F28E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A54B9CC-2E59-D428-5037-36C58C007BC4}"/>
                </a:ext>
              </a:extLst>
            </p:cNvPr>
            <p:cNvSpPr txBox="1"/>
            <p:nvPr/>
          </p:nvSpPr>
          <p:spPr>
            <a:xfrm>
              <a:off x="15933250" y="-785505"/>
              <a:ext cx="1218717" cy="1519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Georgia" panose="02040502050405020303" pitchFamily="18" charset="0"/>
                </a:rPr>
                <a:t>Group 27</a:t>
              </a:r>
            </a:p>
          </p:txBody>
        </p:sp>
      </p:grp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D16E67-5290-9B2B-6B7C-CD33566E945D}"/>
              </a:ext>
            </a:extLst>
          </p:cNvPr>
          <p:cNvSpPr txBox="1">
            <a:spLocks/>
          </p:cNvSpPr>
          <p:nvPr/>
        </p:nvSpPr>
        <p:spPr>
          <a:xfrm>
            <a:off x="4419693" y="827276"/>
            <a:ext cx="3370656" cy="365125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Insights from 119,000+ hotel bookings</a:t>
            </a:r>
            <a:endParaRPr lang="en-US" sz="12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71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5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A7568-3287-DF5C-93FC-2952ABB8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5B1677-9E92-9D8A-ECDC-53FB7B19AF10}"/>
              </a:ext>
            </a:extLst>
          </p:cNvPr>
          <p:cNvSpPr/>
          <p:nvPr/>
        </p:nvSpPr>
        <p:spPr>
          <a:xfrm>
            <a:off x="11347648" y="4232092"/>
            <a:ext cx="473274" cy="431529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02BD74-1EEE-4844-726F-E283EE6A9E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1581" y="6356350"/>
            <a:ext cx="408709" cy="365125"/>
          </a:xfrm>
        </p:spPr>
        <p:txBody>
          <a:bodyPr/>
          <a:lstStyle/>
          <a:p>
            <a:fld id="{5F51FA37-3D95-DD4F-A79E-5508DFB6D295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E2C922C-3CF3-0AC7-067B-A527E706669C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9423" y="2071096"/>
            <a:ext cx="3021585" cy="2592525"/>
          </a:xfr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33D06D5-5AC6-A417-E234-F35AFB8C099B}"/>
              </a:ext>
            </a:extLst>
          </p:cNvPr>
          <p:cNvSpPr txBox="1">
            <a:spLocks/>
          </p:cNvSpPr>
          <p:nvPr/>
        </p:nvSpPr>
        <p:spPr>
          <a:xfrm>
            <a:off x="2546519" y="250158"/>
            <a:ext cx="7098962" cy="591658"/>
          </a:xfrm>
          <a:prstGeom prst="rect">
            <a:avLst/>
          </a:prstGeom>
        </p:spPr>
        <p:txBody>
          <a:bodyPr vert="horz" lIns="0" tIns="0" rIns="0" bIns="5400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AU" sz="3600" b="0" i="0" kern="1200" spc="-20" baseline="0" smtClean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  <a:latin typeface="Georgia" panose="02040502050405020303" pitchFamily="18" charset="0"/>
              </a:rPr>
              <a:t>Hotel Booking Overview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3B257A43-65D7-7059-0127-11E9B977F061}"/>
              </a:ext>
            </a:extLst>
          </p:cNvPr>
          <p:cNvSpPr txBox="1">
            <a:spLocks/>
          </p:cNvSpPr>
          <p:nvPr/>
        </p:nvSpPr>
        <p:spPr>
          <a:xfrm>
            <a:off x="2361783" y="6343897"/>
            <a:ext cx="7468433" cy="365125"/>
          </a:xfrm>
          <a:prstGeom prst="rect">
            <a:avLst/>
          </a:prstGeom>
        </p:spPr>
        <p:txBody>
          <a:bodyPr vert="horz" lIns="0" tIns="54000" rIns="0" bIns="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Tony Xie | Ananya Srinivas | Yamuna G C | Adrian Mato | Nakul Sidiginamola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A244F4-76B8-2E9A-2F99-8F28F06EABB4}"/>
              </a:ext>
            </a:extLst>
          </p:cNvPr>
          <p:cNvGrpSpPr/>
          <p:nvPr/>
        </p:nvGrpSpPr>
        <p:grpSpPr>
          <a:xfrm>
            <a:off x="512010" y="1574613"/>
            <a:ext cx="7406241" cy="4605777"/>
            <a:chOff x="4419693" y="1409531"/>
            <a:chExt cx="7406241" cy="460577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2BACE5-2CED-BFBD-C6A8-21B7431BA051}"/>
                </a:ext>
              </a:extLst>
            </p:cNvPr>
            <p:cNvGrpSpPr/>
            <p:nvPr/>
          </p:nvGrpSpPr>
          <p:grpSpPr>
            <a:xfrm>
              <a:off x="4419693" y="1428651"/>
              <a:ext cx="622570" cy="622570"/>
              <a:chOff x="691335" y="4094216"/>
              <a:chExt cx="622570" cy="622570"/>
            </a:xfrm>
            <a:solidFill>
              <a:srgbClr val="F28E2B"/>
            </a:solidFill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70D86B11-1B15-3F63-0AEC-974FD806B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91335" y="4094216"/>
                <a:ext cx="622570" cy="622570"/>
              </a:xfrm>
              <a:prstGeom prst="ellipse">
                <a:avLst/>
              </a:prstGeom>
              <a:grpFill/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18" name="Picture 5">
                <a:extLst>
                  <a:ext uri="{FF2B5EF4-FFF2-40B4-BE49-F238E27FC236}">
                    <a16:creationId xmlns:a16="http://schemas.microsoft.com/office/drawing/2014/main" id="{FAD2454C-0897-223F-234C-B056A51F2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t="10351" b="10351"/>
              <a:stretch/>
            </p:blipFill>
            <p:spPr>
              <a:xfrm>
                <a:off x="809346" y="4252943"/>
                <a:ext cx="395482" cy="313609"/>
              </a:xfrm>
              <a:prstGeom prst="rect">
                <a:avLst/>
              </a:prstGeom>
            </p:spPr>
          </p:pic>
        </p:grpSp>
        <p:sp>
          <p:nvSpPr>
            <p:cNvPr id="19" name="Text Placeholder 2">
              <a:extLst>
                <a:ext uri="{FF2B5EF4-FFF2-40B4-BE49-F238E27FC236}">
                  <a16:creationId xmlns:a16="http://schemas.microsoft.com/office/drawing/2014/main" id="{8109C732-F29F-8EC2-565B-DBBD44497A4F}"/>
                </a:ext>
              </a:extLst>
            </p:cNvPr>
            <p:cNvSpPr txBox="1">
              <a:spLocks/>
            </p:cNvSpPr>
            <p:nvPr/>
          </p:nvSpPr>
          <p:spPr>
            <a:xfrm>
              <a:off x="5149732" y="2744720"/>
              <a:ext cx="6676202" cy="964195"/>
            </a:xfrm>
            <a:prstGeom prst="rect">
              <a:avLst/>
            </a:prstGeom>
            <a:noFill/>
          </p:spPr>
          <p:txBody>
            <a:bodyPr vert="horz" lIns="91440" tIns="0" rIns="91440" bIns="45720" rtlCol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1500"/>
                </a:spcAft>
                <a:buFont typeface="Arial" panose="020B0604020202020204" pitchFamily="34" charset="0"/>
                <a:buNone/>
                <a:defRPr lang="en-AU" sz="1500" b="0" i="0" kern="120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400" dirty="0">
                  <a:solidFill>
                    <a:schemeClr val="bg1"/>
                  </a:solidFill>
                  <a:latin typeface="Georgia" panose="02040502050405020303" pitchFamily="18" charset="0"/>
                </a:rPr>
                <a:t>Hotel bookings spike, and cancellations happen unexpectedly. By analyzing 119,000+ bookings, we uncovered key trends in pricing, guest behavior, and seasonality—providing insights that help hotels thrive.</a:t>
              </a:r>
              <a:endParaRPr lang="en-IN" sz="14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68BBBB01-3CAE-A2FB-AEAE-DA54BA15973C}"/>
                </a:ext>
              </a:extLst>
            </p:cNvPr>
            <p:cNvSpPr txBox="1">
              <a:spLocks/>
            </p:cNvSpPr>
            <p:nvPr/>
          </p:nvSpPr>
          <p:spPr>
            <a:xfrm>
              <a:off x="5126617" y="1765650"/>
              <a:ext cx="4213990" cy="304048"/>
            </a:xfrm>
            <a:prstGeom prst="rect">
              <a:avLst/>
            </a:prstGeom>
            <a:noFill/>
          </p:spPr>
          <p:txBody>
            <a:bodyPr vert="horz" lIns="91440" tIns="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1500"/>
                </a:spcAft>
                <a:buFont typeface="Arial" panose="020B0604020202020204" pitchFamily="34" charset="0"/>
                <a:buNone/>
                <a:defRPr lang="en-AU" sz="1500" b="0" i="0" kern="120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IN" sz="1400" dirty="0">
                  <a:solidFill>
                    <a:schemeClr val="bg1"/>
                  </a:solidFill>
                  <a:latin typeface="Georgia" panose="02040502050405020303" pitchFamily="18" charset="0"/>
                </a:rPr>
                <a:t>Hotel Managers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9D059E0-9F6A-2306-3D54-70CA3CCEBB9A}"/>
                </a:ext>
              </a:extLst>
            </p:cNvPr>
            <p:cNvGrpSpPr/>
            <p:nvPr/>
          </p:nvGrpSpPr>
          <p:grpSpPr>
            <a:xfrm>
              <a:off x="4466847" y="2426042"/>
              <a:ext cx="622570" cy="622570"/>
              <a:chOff x="691335" y="3148328"/>
              <a:chExt cx="622570" cy="622570"/>
            </a:xfrm>
            <a:solidFill>
              <a:srgbClr val="F28E2B"/>
            </a:solidFill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8C3E776-2911-946C-BC65-31B26E9AC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91335" y="3148328"/>
                <a:ext cx="622570" cy="62257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3" name="Picture 3">
                <a:extLst>
                  <a:ext uri="{FF2B5EF4-FFF2-40B4-BE49-F238E27FC236}">
                    <a16:creationId xmlns:a16="http://schemas.microsoft.com/office/drawing/2014/main" id="{8011424C-9173-1D95-EB40-645E5C63AA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815941" y="3266692"/>
                <a:ext cx="380829" cy="381854"/>
              </a:xfrm>
              <a:prstGeom prst="rect">
                <a:avLst/>
              </a:prstGeom>
            </p:spPr>
          </p:pic>
        </p:grpSp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7A5ADFC4-D92E-FAEC-3D1D-BB29887EB55E}"/>
                </a:ext>
              </a:extLst>
            </p:cNvPr>
            <p:cNvSpPr txBox="1">
              <a:spLocks/>
            </p:cNvSpPr>
            <p:nvPr/>
          </p:nvSpPr>
          <p:spPr>
            <a:xfrm>
              <a:off x="5149732" y="1409531"/>
              <a:ext cx="4423860" cy="378589"/>
            </a:xfrm>
            <a:prstGeom prst="rect">
              <a:avLst/>
            </a:prstGeom>
          </p:spPr>
          <p:txBody>
            <a:bodyPr vert="horz" lIns="91440" tIns="45720" rIns="91440" bIns="45720" rtlCol="0" anchor="b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chemeClr val="bg1"/>
                  </a:solidFill>
                  <a:latin typeface="Georgia" panose="02040502050405020303" pitchFamily="18" charset="0"/>
                  <a:ea typeface="Calibri" panose="020F0502020204030204" pitchFamily="34" charset="0"/>
                  <a:cs typeface="Calibri" panose="020F0502020204030204" pitchFamily="34" charset="0"/>
                </a:rPr>
                <a:t>Target Audience</a:t>
              </a:r>
            </a:p>
          </p:txBody>
        </p:sp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FD4802A0-CD91-B51F-A6AC-C79721BFC739}"/>
                </a:ext>
              </a:extLst>
            </p:cNvPr>
            <p:cNvSpPr txBox="1">
              <a:spLocks/>
            </p:cNvSpPr>
            <p:nvPr/>
          </p:nvSpPr>
          <p:spPr>
            <a:xfrm>
              <a:off x="5149733" y="2342277"/>
              <a:ext cx="4423860" cy="378589"/>
            </a:xfrm>
            <a:prstGeom prst="rect">
              <a:avLst/>
            </a:prstGeom>
          </p:spPr>
          <p:txBody>
            <a:bodyPr vert="horz" lIns="91440" tIns="45720" rIns="91440" bIns="45720" rtlCol="0" anchor="b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chemeClr val="bg1"/>
                  </a:solidFill>
                  <a:latin typeface="Georgia" panose="02040502050405020303" pitchFamily="18" charset="0"/>
                  <a:ea typeface="Calibri" panose="020F0502020204030204" pitchFamily="34" charset="0"/>
                  <a:cs typeface="Calibri" panose="020F0502020204030204" pitchFamily="34" charset="0"/>
                </a:rPr>
                <a:t>Data Story</a:t>
              </a:r>
            </a:p>
          </p:txBody>
        </p:sp>
        <p:sp>
          <p:nvSpPr>
            <p:cNvPr id="27" name="Text Placeholder 2">
              <a:extLst>
                <a:ext uri="{FF2B5EF4-FFF2-40B4-BE49-F238E27FC236}">
                  <a16:creationId xmlns:a16="http://schemas.microsoft.com/office/drawing/2014/main" id="{0544B845-2F22-18A4-32E4-629E4F836D10}"/>
                </a:ext>
              </a:extLst>
            </p:cNvPr>
            <p:cNvSpPr txBox="1">
              <a:spLocks/>
            </p:cNvSpPr>
            <p:nvPr/>
          </p:nvSpPr>
          <p:spPr>
            <a:xfrm>
              <a:off x="5161014" y="4110548"/>
              <a:ext cx="6490245" cy="716451"/>
            </a:xfrm>
            <a:prstGeom prst="rect">
              <a:avLst/>
            </a:prstGeom>
            <a:noFill/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400" dirty="0">
                  <a:solidFill>
                    <a:schemeClr val="bg1"/>
                  </a:solidFill>
                  <a:latin typeface="Georgia" panose="02040502050405020303" pitchFamily="18" charset="0"/>
                  <a:cs typeface="Arial" panose="020B0604020202020204" pitchFamily="34" charset="0"/>
                </a:rPr>
                <a:t>Reveal booking trends and guest behaviors to help hotel managers boost revenue, reduce cancellations, and plan for peak periods</a:t>
              </a:r>
              <a:endParaRPr lang="en-AU" sz="1400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2" name="Title 1">
              <a:extLst>
                <a:ext uri="{FF2B5EF4-FFF2-40B4-BE49-F238E27FC236}">
                  <a16:creationId xmlns:a16="http://schemas.microsoft.com/office/drawing/2014/main" id="{4D0A6382-0EAA-6745-CEBC-87DB0C685861}"/>
                </a:ext>
              </a:extLst>
            </p:cNvPr>
            <p:cNvSpPr txBox="1">
              <a:spLocks/>
            </p:cNvSpPr>
            <p:nvPr/>
          </p:nvSpPr>
          <p:spPr>
            <a:xfrm>
              <a:off x="5172295" y="3776898"/>
              <a:ext cx="4213990" cy="378589"/>
            </a:xfrm>
            <a:prstGeom prst="rect">
              <a:avLst/>
            </a:prstGeom>
          </p:spPr>
          <p:txBody>
            <a:bodyPr vert="horz" lIns="91440" tIns="45720" rIns="91440" bIns="45720" rtlCol="0" anchor="b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0" kern="1200">
                  <a:solidFill>
                    <a:schemeClr val="accent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chemeClr val="bg1"/>
                  </a:solidFill>
                  <a:latin typeface="Georgia" panose="02040502050405020303" pitchFamily="18" charset="0"/>
                  <a:ea typeface="Calibri" panose="020F0502020204030204" pitchFamily="34" charset="0"/>
                  <a:cs typeface="Calibri" panose="020F0502020204030204" pitchFamily="34" charset="0"/>
                </a:rPr>
                <a:t>Main Task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B6B475F-EAA1-5393-4C54-711F55ECADFE}"/>
                </a:ext>
              </a:extLst>
            </p:cNvPr>
            <p:cNvGrpSpPr/>
            <p:nvPr/>
          </p:nvGrpSpPr>
          <p:grpSpPr>
            <a:xfrm>
              <a:off x="4479131" y="5001968"/>
              <a:ext cx="647486" cy="647484"/>
              <a:chOff x="8820437" y="4227266"/>
              <a:chExt cx="647486" cy="647484"/>
            </a:xfrm>
            <a:solidFill>
              <a:srgbClr val="F28E2B"/>
            </a:solidFill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0C31A8D-D245-B1D2-74FE-FF22896427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20437" y="4227266"/>
                <a:ext cx="647486" cy="647484"/>
              </a:xfrm>
              <a:prstGeom prst="ellipse">
                <a:avLst/>
              </a:prstGeom>
              <a:grpFill/>
              <a:ln w="31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5" name="Picture 41">
                <a:extLst>
                  <a:ext uri="{FF2B5EF4-FFF2-40B4-BE49-F238E27FC236}">
                    <a16:creationId xmlns:a16="http://schemas.microsoft.com/office/drawing/2014/main" id="{715884C5-1BBF-E1A1-70F9-D28634CCA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t="9500" b="9500"/>
              <a:stretch/>
            </p:blipFill>
            <p:spPr>
              <a:xfrm>
                <a:off x="8899734" y="4392542"/>
                <a:ext cx="473708" cy="383700"/>
              </a:xfrm>
              <a:prstGeom prst="rect">
                <a:avLst/>
              </a:prstGeom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98317E8-BB75-C587-1FA1-4E514BECF79F}"/>
                </a:ext>
              </a:extLst>
            </p:cNvPr>
            <p:cNvGrpSpPr/>
            <p:nvPr/>
          </p:nvGrpSpPr>
          <p:grpSpPr>
            <a:xfrm>
              <a:off x="4480309" y="3828251"/>
              <a:ext cx="622570" cy="622570"/>
              <a:chOff x="691335" y="2202440"/>
              <a:chExt cx="622570" cy="622570"/>
            </a:xfrm>
            <a:solidFill>
              <a:srgbClr val="F28E2B"/>
            </a:solidFill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124C8CC-9835-3DC1-9869-3E0C1D1383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91335" y="2202440"/>
                <a:ext cx="622570" cy="622570"/>
              </a:xfrm>
              <a:prstGeom prst="ellipse">
                <a:avLst/>
              </a:prstGeom>
              <a:grpFill/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/>
              </a:p>
            </p:txBody>
          </p:sp>
          <p:pic>
            <p:nvPicPr>
              <p:cNvPr id="38" name="Picture 25">
                <a:extLst>
                  <a:ext uri="{FF2B5EF4-FFF2-40B4-BE49-F238E27FC236}">
                    <a16:creationId xmlns:a16="http://schemas.microsoft.com/office/drawing/2014/main" id="{7FEA6064-8C9F-74DD-FBD9-1538E1F102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859632" y="2368336"/>
                <a:ext cx="298288" cy="298288"/>
              </a:xfrm>
              <a:prstGeom prst="rect">
                <a:avLst/>
              </a:prstGeom>
            </p:spPr>
          </p:pic>
        </p:grpSp>
        <p:sp>
          <p:nvSpPr>
            <p:cNvPr id="39" name="Text Placeholder 2">
              <a:extLst>
                <a:ext uri="{FF2B5EF4-FFF2-40B4-BE49-F238E27FC236}">
                  <a16:creationId xmlns:a16="http://schemas.microsoft.com/office/drawing/2014/main" id="{F2F81737-4607-5636-9904-E1A414B0B7B5}"/>
                </a:ext>
              </a:extLst>
            </p:cNvPr>
            <p:cNvSpPr txBox="1">
              <a:spLocks/>
            </p:cNvSpPr>
            <p:nvPr/>
          </p:nvSpPr>
          <p:spPr>
            <a:xfrm>
              <a:off x="5172293" y="5039474"/>
              <a:ext cx="6653641" cy="975834"/>
            </a:xfrm>
            <a:prstGeom prst="rect">
              <a:avLst/>
            </a:prstGeom>
            <a:noFill/>
          </p:spPr>
          <p:txBody>
            <a:bodyPr vert="horz" lIns="91440" tIns="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spcAft>
                  <a:spcPts val="1500"/>
                </a:spcAft>
                <a:buFont typeface="Arial" panose="020B0604020202020204" pitchFamily="34" charset="0"/>
                <a:buNone/>
                <a:defRPr lang="en-AU" sz="1500" b="0" i="0" kern="1200" smtClean="0"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solidFill>
                    <a:schemeClr val="bg1"/>
                  </a:solidFill>
                  <a:latin typeface="Georgia" panose="02040502050405020303" pitchFamily="18" charset="0"/>
                </a:rPr>
                <a:t>“Slip on your sharp hotel manager’s blazer, For the next few minutes, you’re the decision-maker for high-stakes decisions from maximizing hotel revenue to reducing cancellations, and planning for peak periods.”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32B64EDA-3BB8-9E64-DAAE-65A0C80DE1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720" y="199209"/>
            <a:ext cx="1014542" cy="86607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C32CA227-5C34-DC8D-C0C9-8C15108095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3143" y="6147020"/>
            <a:ext cx="1552792" cy="7074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03081E-901E-D26E-6158-1CF7007D6A8D}"/>
              </a:ext>
            </a:extLst>
          </p:cNvPr>
          <p:cNvSpPr/>
          <p:nvPr/>
        </p:nvSpPr>
        <p:spPr>
          <a:xfrm>
            <a:off x="8001047" y="4027064"/>
            <a:ext cx="1312368" cy="1667063"/>
          </a:xfrm>
          <a:prstGeom prst="rect">
            <a:avLst/>
          </a:prstGeom>
          <a:solidFill>
            <a:srgbClr val="F28E2B"/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hlinkClick r:id="rId13"/>
            <a:extLst>
              <a:ext uri="{FF2B5EF4-FFF2-40B4-BE49-F238E27FC236}">
                <a16:creationId xmlns:a16="http://schemas.microsoft.com/office/drawing/2014/main" id="{77228142-8C31-7009-3D63-1ABDEAFF11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6174" y="4075061"/>
            <a:ext cx="1194325" cy="1204693"/>
          </a:xfrm>
          <a:prstGeom prst="rect">
            <a:avLst/>
          </a:prstGeom>
        </p:spPr>
      </p:pic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F2A5FC54-02B7-00DA-5D20-B74261CC3D88}"/>
              </a:ext>
            </a:extLst>
          </p:cNvPr>
          <p:cNvSpPr txBox="1">
            <a:spLocks/>
          </p:cNvSpPr>
          <p:nvPr/>
        </p:nvSpPr>
        <p:spPr>
          <a:xfrm>
            <a:off x="8125391" y="5304946"/>
            <a:ext cx="1061685" cy="314336"/>
          </a:xfrm>
          <a:prstGeom prst="rect">
            <a:avLst/>
          </a:prstGeom>
        </p:spPr>
        <p:txBody>
          <a:bodyPr vert="horz" lIns="0" tIns="54000" rIns="0" bIns="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Scan to explore the dashboard</a:t>
            </a:r>
            <a:endParaRPr lang="en-US" sz="1200" b="1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2731ED8-973F-5C77-A15B-A7B6B2449452}"/>
              </a:ext>
            </a:extLst>
          </p:cNvPr>
          <p:cNvSpPr txBox="1">
            <a:spLocks/>
          </p:cNvSpPr>
          <p:nvPr/>
        </p:nvSpPr>
        <p:spPr>
          <a:xfrm>
            <a:off x="9359091" y="4677407"/>
            <a:ext cx="1891386" cy="365125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i="1" dirty="0">
                <a:solidFill>
                  <a:schemeClr val="bg1">
                    <a:lumMod val="75000"/>
                  </a:schemeClr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Image for illustration only</a:t>
            </a:r>
          </a:p>
          <a:p>
            <a:pPr algn="ctr"/>
            <a:r>
              <a:rPr lang="en-US" sz="900" i="1" dirty="0">
                <a:solidFill>
                  <a:schemeClr val="bg1">
                    <a:lumMod val="75000"/>
                  </a:schemeClr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Source: York Hotel(Singapore)</a:t>
            </a:r>
            <a:endParaRPr lang="en-US" sz="900" i="1" dirty="0">
              <a:solidFill>
                <a:schemeClr val="bg1">
                  <a:lumMod val="75000"/>
                </a:schemeClr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5851350-2EF0-7688-98B7-7ED990B5F668}"/>
              </a:ext>
            </a:extLst>
          </p:cNvPr>
          <p:cNvSpPr txBox="1">
            <a:spLocks/>
          </p:cNvSpPr>
          <p:nvPr/>
        </p:nvSpPr>
        <p:spPr>
          <a:xfrm>
            <a:off x="8361628" y="1559402"/>
            <a:ext cx="3021585" cy="417237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Welcome, Hotel Managers!</a:t>
            </a:r>
            <a:endParaRPr lang="en-US" sz="18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44AFCC-615F-7725-2D0E-44354B882534}"/>
              </a:ext>
            </a:extLst>
          </p:cNvPr>
          <p:cNvGrpSpPr/>
          <p:nvPr/>
        </p:nvGrpSpPr>
        <p:grpSpPr>
          <a:xfrm>
            <a:off x="10838738" y="341835"/>
            <a:ext cx="1105005" cy="546207"/>
            <a:chOff x="15770018" y="-785505"/>
            <a:chExt cx="1519200" cy="15192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783121-B1BC-4D9E-1A3A-D5171B891ABF}"/>
                </a:ext>
              </a:extLst>
            </p:cNvPr>
            <p:cNvSpPr/>
            <p:nvPr/>
          </p:nvSpPr>
          <p:spPr>
            <a:xfrm>
              <a:off x="15770018" y="-785505"/>
              <a:ext cx="1519200" cy="1519200"/>
            </a:xfrm>
            <a:prstGeom prst="rect">
              <a:avLst/>
            </a:prstGeom>
            <a:solidFill>
              <a:srgbClr val="F28E2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CB63B4-2830-0E69-912A-99049982DDE8}"/>
                </a:ext>
              </a:extLst>
            </p:cNvPr>
            <p:cNvSpPr txBox="1"/>
            <p:nvPr/>
          </p:nvSpPr>
          <p:spPr>
            <a:xfrm>
              <a:off x="15933250" y="-785505"/>
              <a:ext cx="1218717" cy="15192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Georgia" panose="02040502050405020303" pitchFamily="18" charset="0"/>
                </a:rPr>
                <a:t>Group 27</a:t>
              </a:r>
            </a:p>
          </p:txBody>
        </p:sp>
      </p:grp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1667139-A71E-7A5F-5B8B-BDC6A93A9D51}"/>
              </a:ext>
            </a:extLst>
          </p:cNvPr>
          <p:cNvSpPr txBox="1">
            <a:spLocks/>
          </p:cNvSpPr>
          <p:nvPr/>
        </p:nvSpPr>
        <p:spPr>
          <a:xfrm>
            <a:off x="4419693" y="827276"/>
            <a:ext cx="3370656" cy="365125"/>
          </a:xfrm>
          <a:prstGeom prst="rect">
            <a:avLst/>
          </a:prstGeom>
        </p:spPr>
        <p:txBody>
          <a:bodyPr vert="horz" lIns="0" tIns="5400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AU" sz="2000" kern="12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Insights from 119,000+ hotel bookings</a:t>
            </a:r>
            <a:endParaRPr lang="en-US" sz="1200" dirty="0">
              <a:solidFill>
                <a:schemeClr val="bg1"/>
              </a:solidFill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42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44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C46AC87-43D5-41D9-F4CC-79E4B746CC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Place long title here:</a:t>
            </a:r>
          </a:p>
          <a:p>
            <a:r>
              <a:rPr lang="en-AU" dirty="0" err="1"/>
              <a:t>Ligenimus</a:t>
            </a:r>
            <a:r>
              <a:rPr lang="en-AU" dirty="0"/>
              <a:t> </a:t>
            </a:r>
            <a:r>
              <a:rPr lang="en-AU" dirty="0" err="1"/>
              <a:t>pe</a:t>
            </a:r>
            <a:r>
              <a:rPr lang="en-AU" dirty="0"/>
              <a:t> </a:t>
            </a:r>
            <a:r>
              <a:rPr lang="en-AU" dirty="0" err="1"/>
              <a:t>vento</a:t>
            </a:r>
            <a:r>
              <a:rPr lang="en-AU" dirty="0"/>
              <a:t> </a:t>
            </a:r>
            <a:r>
              <a:rPr lang="en-AU" dirty="0" err="1"/>
              <a:t>molor</a:t>
            </a:r>
            <a:r>
              <a:rPr lang="en-AU" dirty="0"/>
              <a:t> </a:t>
            </a:r>
            <a:r>
              <a:rPr lang="en-AU" dirty="0" err="1"/>
              <a:t>si</a:t>
            </a:r>
            <a:r>
              <a:rPr lang="en-AU" dirty="0"/>
              <a:t> od </a:t>
            </a:r>
            <a:r>
              <a:rPr lang="en-AU" dirty="0" err="1"/>
              <a:t>quodio</a:t>
            </a:r>
            <a:r>
              <a:rPr lang="en-AU" dirty="0"/>
              <a:t>.</a:t>
            </a:r>
          </a:p>
          <a:p>
            <a:r>
              <a:rPr lang="en-AU" dirty="0"/>
              <a:t>Nam </a:t>
            </a:r>
            <a:r>
              <a:rPr lang="en-AU" dirty="0" err="1"/>
              <a:t>dollaut</a:t>
            </a:r>
            <a:r>
              <a:rPr lang="en-AU" dirty="0"/>
              <a:t> qui as </a:t>
            </a:r>
            <a:r>
              <a:rPr lang="en-AU" dirty="0" err="1"/>
              <a:t>remporest</a:t>
            </a:r>
            <a:r>
              <a:rPr lang="en-AU" dirty="0"/>
              <a:t>, </a:t>
            </a:r>
            <a:r>
              <a:rPr lang="en-AU" dirty="0" err="1"/>
              <a:t>sitatem</a:t>
            </a:r>
            <a:endParaRPr lang="en-AU" dirty="0"/>
          </a:p>
          <a:p>
            <a:r>
              <a:rPr lang="en-AU" dirty="0" err="1"/>
              <a:t>renienitatat</a:t>
            </a:r>
            <a:r>
              <a:rPr lang="en-AU" dirty="0"/>
              <a:t> et at que </a:t>
            </a:r>
            <a:r>
              <a:rPr lang="en-AU" dirty="0" err="1"/>
              <a:t>sequosti</a:t>
            </a:r>
            <a:r>
              <a:rPr lang="en-AU" dirty="0"/>
              <a:t> ne.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35C753-E13F-A0F5-DD40-9F29481B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226526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581</Words>
  <Application>Microsoft Office PowerPoint</Application>
  <PresentationFormat>Widescreen</PresentationFormat>
  <Paragraphs>67</Paragraphs>
  <Slides>5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Helvetica</vt:lpstr>
      <vt:lpstr>Office Theme</vt:lpstr>
      <vt:lpstr>Group 27: Hotel Booking Overview</vt:lpstr>
      <vt:lpstr>Group 27: Hotel Booking Overview</vt:lpstr>
      <vt:lpstr>PowerPoint Presentation</vt:lpstr>
      <vt:lpstr>PowerPoint Presentation</vt:lpstr>
      <vt:lpstr>Title heading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Nakul Sidiginamola</dc:creator>
  <cp:lastModifiedBy>Nakul Sidiginamola</cp:lastModifiedBy>
  <cp:revision>5</cp:revision>
  <dcterms:created xsi:type="dcterms:W3CDTF">2025-05-10T23:32:32Z</dcterms:created>
  <dcterms:modified xsi:type="dcterms:W3CDTF">2025-05-11T06:25:36Z</dcterms:modified>
</cp:coreProperties>
</file>